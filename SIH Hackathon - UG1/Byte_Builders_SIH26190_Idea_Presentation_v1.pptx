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35"/>
  </p:normalViewPr>
  <p:slideViewPr>
    <p:cSldViewPr snapToGrid="0" snapToObjects="1">
      <p:cViewPr varScale="1">
        <p:scale>
          <a:sx n="110" d="100"/>
          <a:sy n="110" d="100"/>
        </p:scale>
        <p:origin x="6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SIH 2026 Problem Statement 26190 and team discussion in the SIH Hackathon project. Prototype details reflect the current web-based login v0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Sources: SIH 2026 Problem Statement 26190 and team discussion in the SIH Hackathon project. Prototype details reflect the current web-based login v0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Sources: SIH 2026 Problem Statement 26190 and team discussion in the SIH Hackathon project. Prototype details reflect the current web-based login v0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Sources: SIH 2026 Problem Statement 26190 and team discussion in the SIH Hackathon project. Prototype details reflect the current web-based login v0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Sources: SIH 2026 Problem Statement 26190 and team discussion in the SIH Hackathon project. Prototype details reflect the current web-based login v0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Sources: SIH 2026 Problem Statement 26190 and team discussion in the SIH Hackathon project. Prototype details reflect the current web-based login v0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B19E4-29A7-4F8E-95E1-2356102BB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D930EE-9595-4482-A6D1-A43267668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18B0F-3ABC-4C54-9CF3-4617E49686E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60792E3-D524-454C-8AFD-A91972900BCB}" type="datetime1">
              <a:t>9/12/26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08AB6-E19D-416C-9535-FF261ABBE6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C2DF0-5503-41A1-871D-6D6F17DB33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5B7E1BAA-A38D-40DE-B22C-DF9BD7D8205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7E52-9014-4F13-A66A-B104A8342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770A9-8C35-4A42-841A-AC01920BE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023FD-6389-4D37-A095-E27A6B3B996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708B7524-32A2-4C20-A58C-BC3BAA1042FC}" type="datetime1">
              <a:t>9/12/26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AE664-36DA-4BD8-AFD9-28BBB2EBA62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7C03A-D67D-4065-B354-64F763DF80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77C3CE7-23F7-4828-823C-E0205DF2C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1781F-2C30-4286-8569-C1B2A7890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4C44F-7844-4391-B8C9-400BF7341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BEBDA-321F-4344-95DE-D7A073AB6F3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1E994447-D6B2-43BB-A877-57F1A267B999}" type="datetime1">
              <a:t>9/12/26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74418-2265-4276-BB23-0E5384CBDF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B0A47-A285-4589-BE86-AFAF755AB3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41DB31D2-2A87-4F4C-A9AD-05C6CC2B321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DC7EA-3351-49AA-9D1E-AED7425DF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6B99C-0DFC-4836-93CE-AFB1F5A5B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629D41-B3D5-411D-8D69-E19EA5B603D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B83798D-99C6-4C6C-A39B-B52F8B3CBE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8920E16-BD35-483C-AA6B-346FC7E46DEA}" type="datetime1">
              <a:t>9/12/26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12EE29D-6672-4079-B5FB-7B581C368A7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EEC472C-399D-4646-9070-A9CD8E244E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1FC16D9-1635-4844-816A-0A8A2160FAD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92045-E729-4A0F-A2EC-5204A0C27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97B75-D2B7-4861-9415-F322618FE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7E1067-FCC4-4898-820A-C1FA049D917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90CF23-13A5-40AC-A88C-420D2E39C8C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62B7FB-CAD1-4EA1-8D21-42781AF2EDA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D5B608A-6A09-4CC8-B6F7-220CECDEA60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FEAC6F8-5103-4FC0-A69E-5C6AE6469DA8}" type="datetime1">
              <a:t>9/12/26</a:t>
            </a:fld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EB6D212-944B-4384-B4DD-3837E54D17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1980227-B790-4B00-96FF-BB5BD9F80A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71C4100A-98DE-4944-910A-A93F5CA9F72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C16DE-6F0B-4B80-A68E-2D0E17CE6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37B5951-0496-4298-B194-E7A5557D5EC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C60C6921-0627-4C8F-83D5-0CF936D2FFDD}" type="datetime1">
              <a:t>9/12/26</a:t>
            </a:fld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49F2A41-8F2A-4D8A-AB0A-D2705E60AEC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A0C423-31B1-449C-9ACE-5D72021D5C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A63342B-5A73-45DC-864D-086DE78037E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D206F4E-3499-47DB-A587-F509D62E12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FF08AD7-8103-40F8-983C-E2BA6BB9CBE0}" type="datetime1">
              <a:t>9/12/26</a:t>
            </a:fld>
            <a:endParaRPr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06FF5C4-892F-4373-9D4A-DCEEC5F9425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3498FBF-E1C8-4E27-A318-FBFA888022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B635AFB3-1ACD-44AC-8702-86B1729DF03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CD1BD-F691-464D-ACF1-7C0561DAC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7D277-D99A-4CB5-A67A-60B2E5CEC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31583-080F-49C3-AF65-03B1D54AD04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CABE85A-5B24-42BA-A772-0B7CB6BD34C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DF8C06B4-9380-4A4D-AF49-A3596E17DAF5}" type="datetime1">
              <a:t>9/12/26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1AE07EC-ED77-4178-97B9-95661450DC5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57D4BD5-0E25-4818-8695-9DB8075F44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05CF15F3-5E77-4C57-9E21-50D6D1D6C02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1D565-2104-434C-B9A8-C44003D69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058809-1D18-4330-B85A-8825B420BB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buNone/>
            </a:pP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C7EE6C-43B6-46D3-AFD2-51AC0DA74F5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7BD7CC8-9FB7-4403-87D7-0FE5D6895F7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F7FDEF1-C582-4E22-9E77-D68326471F28}" type="datetime1">
              <a:t>9/12/26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EDDCAA0-3D06-4D95-BBF9-9ECD3802F0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AF98E8F-5289-4249-ABE6-F9BEFFF603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1242169A-B3C7-4FB6-967F-AF95F4EB33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95897-ED98-49AC-99FF-2F7C5BC72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8A5D61-8A8F-402C-A71A-AA3078245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80F25-399B-44C7-8A99-52E59A7D895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053C3A68-6922-42D3-8905-ECC2D82A3469}" type="datetime1">
              <a:t>9/12/26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DF8AC-DDA6-4DE8-A3CD-6900683CFF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6CC83-48F2-4CB0-9D15-733E7EDA93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94FDD027-5576-4F27-AAB6-1D994836EE7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AACF57-9EC4-4FB4-A187-19237C49E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3865C-B559-4061-AFC0-FCECA4BC3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28063-12FB-4DEB-A7CA-2745A3EE4A4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CB69E9F4-7604-4950-A8B2-8ACDEDB1506E}" type="datetime1">
              <a:t>9/12/26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B2881-E986-4839-89C4-988CB35DD05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50F5B-5461-4017-BF6D-4F97769DBF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957CE61-8714-431B-A40A-01B1C5541AB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074E34E-30BE-4D22-B13C-1EF0E04D1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/>
          <a:p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473BD2F-7705-45B4-84C1-2FF043E1A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9CAF8-0BA3-42D2-A76B-3CD8015A8C3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fld id="{780A9602-A9A9-453F-AEF1-37B5837E02CD}" type="datetime1">
              <a:t>9/12/26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8F93E-F905-4971-A423-6DBCAACB5FA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7AB78-0C09-4F7B-906A-3D3A7F9EBE5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noGrp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42" name="Picture 4"/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C0A192EA-1962-4F6C-837C-12344CAF8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0B3A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3A73"/>
                </a:solidFill>
                <a:latin typeface="Arial"/>
                <a:ea typeface="Arial"/>
                <a:cs typeface="Arial"/>
              </a:rPr>
              <a:t>Secure Digital Document Management System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 sz="2400" b="1">
                <a:solidFill>
                  <a:srgbClr val="0B3A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3A73"/>
                </a:solidFill>
                <a:latin typeface="Arial"/>
                <a:ea typeface="Arial"/>
                <a:cs typeface="Arial"/>
              </a:rPr>
              <a:t>for Legal and Investigation Documents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695FB5D-E8E1-40EE-8BA9-D500E4555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9750" y="266700"/>
            <a:ext cx="8572500" cy="742950"/>
          </a:xfrm>
        </p:spPr>
        <p:txBody>
          <a:bodyPr>
            <a:normAutofit/>
          </a:bodyPr>
          <a:lstStyle/>
          <a:p>
            <a:pPr algn="ctr">
              <a:defRPr sz="2550" b="1">
                <a:solidFill>
                  <a:srgbClr val="082A5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A52"/>
                </a:solidFill>
                <a:latin typeface="Arial"/>
                <a:ea typeface="Arial"/>
                <a:cs typeface="Arial"/>
              </a:rPr>
              <a:t>SMART INDIA HACKATHON 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8FF584-DC1E-4C10-A05A-0D4961E7715B}"/>
              </a:ext>
            </a:extLst>
          </p:cNvPr>
          <p:cNvSpPr>
            <a:spLocks noGrp="1"/>
          </p:cNvSpPr>
          <p:nvPr/>
        </p:nvSpPr>
        <p:spPr>
          <a:xfrm>
            <a:off x="331286" y="2076450"/>
            <a:ext cx="592455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  <a:defRPr sz="18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Problem Statement ID - 2619</a:t>
            </a:r>
            <a:r>
              <a:rPr lang="en-US" sz="187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0</a:t>
            </a:r>
            <a:endParaRPr dirty="0"/>
          </a:p>
          <a:p>
            <a:pPr marL="285750" indent="-285750" algn="l">
              <a:lnSpc>
                <a:spcPct val="200000"/>
              </a:lnSpc>
              <a:buFont typeface="Arial"/>
              <a:buChar char="•"/>
              <a:defRPr sz="18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Problem Statement Title - Secure Digital Document Management System for Legal and Investigation Documents</a:t>
            </a:r>
          </a:p>
          <a:p>
            <a:pPr marL="285750" indent="-285750" algn="l">
              <a:lnSpc>
                <a:spcPct val="200000"/>
              </a:lnSpc>
              <a:buFont typeface="Arial"/>
              <a:buChar char="•"/>
              <a:defRPr sz="18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Theme - Blockchain &amp; </a:t>
            </a:r>
            <a:r>
              <a:rPr sz="187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CyberSecurity</a:t>
            </a:r>
            <a:endParaRPr sz="1875" b="1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 marL="285750" indent="-285750" algn="l">
              <a:lnSpc>
                <a:spcPct val="200000"/>
              </a:lnSpc>
              <a:buFont typeface="Arial"/>
              <a:buChar char="•"/>
              <a:defRPr sz="18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PS Category - Software</a:t>
            </a:r>
          </a:p>
          <a:p>
            <a:pPr marL="285750" indent="-285750" algn="l">
              <a:lnSpc>
                <a:spcPct val="200000"/>
              </a:lnSpc>
              <a:buFont typeface="Arial"/>
              <a:buChar char="•"/>
              <a:defRPr sz="18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Team ID - </a:t>
            </a:r>
          </a:p>
          <a:p>
            <a:pPr marL="285750" indent="-285750" algn="l">
              <a:lnSpc>
                <a:spcPct val="200000"/>
              </a:lnSpc>
              <a:buFont typeface="Arial"/>
              <a:buChar char="•"/>
              <a:defRPr sz="18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Team Name - Byte Builders</a:t>
            </a:r>
          </a:p>
        </p:txBody>
      </p:sp>
      <p:pic>
        <p:nvPicPr>
          <p:cNvPr id="46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49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B686FC-C477-42E3-8780-44E1EFED2CC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>
              <a:ext uri="{FF2B5EF4-FFF2-40B4-BE49-F238E27FC236}">
                <a16:creationId xmlns:a16="http://schemas.microsoft.com/office/drawing/2014/main" id="{063C3DB8-7B59-415E-9879-D8AB82C73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250" y="0"/>
            <a:ext cx="8048625" cy="1066800"/>
          </a:xfrm>
        </p:spPr>
        <p:txBody>
          <a:bodyPr>
            <a:normAutofit/>
          </a:bodyPr>
          <a:lstStyle/>
          <a:p>
            <a:pPr algn="l">
              <a:buNone/>
              <a:defRPr sz="3000" b="1">
                <a:solidFill>
                  <a:srgbClr val="082A5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2A52"/>
                </a:solidFill>
                <a:latin typeface="Arial"/>
                <a:ea typeface="Arial"/>
                <a:cs typeface="Arial"/>
              </a:rPr>
              <a:t>IDEA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851F9-83DB-4F5C-AE13-64211E2CB4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D4CC83E-8C0F-46BF-8A6D-A39537A62EC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>
              <a:buNone/>
              <a:defRPr sz="1350" b="1">
                <a:solidFill>
                  <a:srgbClr val="0B3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3A73"/>
                </a:solidFill>
                <a:latin typeface="Arial"/>
                <a:ea typeface="Arial"/>
                <a:cs typeface="Arial"/>
              </a:rPr>
              <a:t>Byte</a:t>
            </a:r>
            <a:endParaRPr/>
          </a:p>
          <a:p>
            <a:pPr algn="ctr">
              <a:buNone/>
              <a:defRPr sz="1350" b="1">
                <a:solidFill>
                  <a:srgbClr val="0B3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3A73"/>
                </a:solidFill>
                <a:latin typeface="Arial"/>
                <a:ea typeface="Arial"/>
                <a:cs typeface="Arial"/>
              </a:rPr>
              <a:t>Builders</a:t>
            </a:r>
            <a:endParaRPr/>
          </a:p>
        </p:txBody>
      </p:sp>
      <p:pic>
        <p:nvPicPr>
          <p:cNvPr id="15377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4" name="Rectangle 15363">
            <a:extLst>
              <a:ext uri="{FF2B5EF4-FFF2-40B4-BE49-F238E27FC236}">
                <a16:creationId xmlns:a16="http://schemas.microsoft.com/office/drawing/2014/main" id="{E4BC9D91-139C-4908-BBB5-D78DA56590C3}"/>
              </a:ext>
            </a:extLst>
          </p:cNvPr>
          <p:cNvSpPr>
            <a:spLocks noGrp="1"/>
          </p:cNvSpPr>
          <p:nvPr/>
        </p:nvSpPr>
        <p:spPr>
          <a:xfrm>
            <a:off x="876300" y="1219200"/>
            <a:ext cx="98107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250" b="1">
                <a:solidFill>
                  <a:srgbClr val="0B3A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3A73"/>
                </a:solidFill>
                <a:latin typeface="Arial"/>
                <a:ea typeface="Arial"/>
                <a:cs typeface="Arial"/>
              </a:rPr>
              <a:t>CaseVault: secure case-file vault for investigations and courts</a:t>
            </a:r>
          </a:p>
        </p:txBody>
      </p:sp>
      <p:sp>
        <p:nvSpPr>
          <p:cNvPr id="15365" name="Rectangle 15364">
            <a:extLst>
              <a:ext uri="{FF2B5EF4-FFF2-40B4-BE49-F238E27FC236}">
                <a16:creationId xmlns:a16="http://schemas.microsoft.com/office/drawing/2014/main" id="{05739955-9241-481C-979E-7812D9CEB01C}"/>
              </a:ext>
            </a:extLst>
          </p:cNvPr>
          <p:cNvSpPr>
            <a:spLocks noGrp="1"/>
          </p:cNvSpPr>
          <p:nvPr/>
        </p:nvSpPr>
        <p:spPr>
          <a:xfrm>
            <a:off x="876300" y="1743075"/>
            <a:ext cx="9715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Encrypted originals, searchable metadata, controlled access, and tamper-evident audit logs.</a:t>
            </a:r>
          </a:p>
        </p:txBody>
      </p:sp>
      <p:sp>
        <p:nvSpPr>
          <p:cNvPr id="15366" name="Rounded Rectangle 15365">
            <a:extLst>
              <a:ext uri="{FF2B5EF4-FFF2-40B4-BE49-F238E27FC236}">
                <a16:creationId xmlns:a16="http://schemas.microsoft.com/office/drawing/2014/main" id="{EF767C4C-ECE3-4ECD-9D58-F5BCDB5C2FBA}"/>
              </a:ext>
            </a:extLst>
          </p:cNvPr>
          <p:cNvSpPr>
            <a:spLocks noGrp="1"/>
          </p:cNvSpPr>
          <p:nvPr/>
        </p:nvSpPr>
        <p:spPr>
          <a:xfrm>
            <a:off x="704850" y="2362200"/>
            <a:ext cx="2851150" cy="381000"/>
          </a:xfrm>
          <a:prstGeom prst="roundRect">
            <a:avLst>
              <a:gd name="adj" fmla="val 21053"/>
            </a:avLst>
          </a:prstGeom>
          <a:solidFill>
            <a:srgbClr val="0B3A73"/>
          </a:solidFill>
          <a:ln w="14288">
            <a:solidFill>
              <a:srgbClr val="0B3A73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15367" name="Rounded Rectangle 15366">
            <a:extLst>
              <a:ext uri="{FF2B5EF4-FFF2-40B4-BE49-F238E27FC236}">
                <a16:creationId xmlns:a16="http://schemas.microsoft.com/office/drawing/2014/main" id="{93A8C7E3-72A6-40B8-ABF2-9554492280B4}"/>
              </a:ext>
            </a:extLst>
          </p:cNvPr>
          <p:cNvSpPr>
            <a:spLocks noGrp="1"/>
          </p:cNvSpPr>
          <p:nvPr/>
        </p:nvSpPr>
        <p:spPr>
          <a:xfrm>
            <a:off x="3714750" y="2362200"/>
            <a:ext cx="3143250" cy="361950"/>
          </a:xfrm>
          <a:prstGeom prst="roundRect">
            <a:avLst>
              <a:gd name="adj" fmla="val 21053"/>
            </a:avLst>
          </a:prstGeom>
          <a:solidFill>
            <a:srgbClr val="0B3A73"/>
          </a:solidFill>
          <a:ln w="14288">
            <a:solidFill>
              <a:srgbClr val="0B3A73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It Addresses the Problem</a:t>
            </a:r>
          </a:p>
        </p:txBody>
      </p:sp>
      <p:sp>
        <p:nvSpPr>
          <p:cNvPr id="15368" name="Rounded Rectangle 15367">
            <a:extLst>
              <a:ext uri="{FF2B5EF4-FFF2-40B4-BE49-F238E27FC236}">
                <a16:creationId xmlns:a16="http://schemas.microsoft.com/office/drawing/2014/main" id="{44BCD01E-0D88-415B-9977-91EDADFE324B}"/>
              </a:ext>
            </a:extLst>
          </p:cNvPr>
          <p:cNvSpPr>
            <a:spLocks noGrp="1"/>
          </p:cNvSpPr>
          <p:nvPr/>
        </p:nvSpPr>
        <p:spPr>
          <a:xfrm>
            <a:off x="7016750" y="2362200"/>
            <a:ext cx="3143250" cy="361950"/>
          </a:xfrm>
          <a:prstGeom prst="roundRect">
            <a:avLst>
              <a:gd name="adj" fmla="val 21053"/>
            </a:avLst>
          </a:prstGeom>
          <a:solidFill>
            <a:srgbClr val="0B3A73"/>
          </a:solidFill>
          <a:ln w="14288">
            <a:solidFill>
              <a:srgbClr val="0B3A73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Innovation and Uniqueness</a:t>
            </a:r>
          </a:p>
        </p:txBody>
      </p:sp>
      <p:sp>
        <p:nvSpPr>
          <p:cNvPr id="15369" name="Rounded Rectangle 15368">
            <a:extLst>
              <a:ext uri="{FF2B5EF4-FFF2-40B4-BE49-F238E27FC236}">
                <a16:creationId xmlns:a16="http://schemas.microsoft.com/office/drawing/2014/main" id="{F42BA05D-00B2-4788-AEAC-F4920046639D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2857500" cy="1737442"/>
          </a:xfrm>
          <a:prstGeom prst="roundRect">
            <a:avLst>
              <a:gd name="adj" fmla="val 5217"/>
            </a:avLst>
          </a:prstGeom>
          <a:solidFill>
            <a:srgbClr val="EAF5FF"/>
          </a:solidFill>
          <a:ln w="14288">
            <a:solidFill>
              <a:srgbClr val="00AE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/>
          </a:bodyPr>
          <a:lstStyle/>
          <a:p>
            <a:pPr algn="l">
              <a:defRPr sz="15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CaseVault encrypts original legal documents, stores searchable metadata, checks user access, and records every action in an audit trail.</a:t>
            </a:r>
          </a:p>
        </p:txBody>
      </p:sp>
      <p:sp>
        <p:nvSpPr>
          <p:cNvPr id="15370" name="Rounded Rectangle 15369">
            <a:extLst>
              <a:ext uri="{FF2B5EF4-FFF2-40B4-BE49-F238E27FC236}">
                <a16:creationId xmlns:a16="http://schemas.microsoft.com/office/drawing/2014/main" id="{8B34D0D1-4382-4E2C-BEDE-AD558DD4683E}"/>
              </a:ext>
            </a:extLst>
          </p:cNvPr>
          <p:cNvSpPr>
            <a:spLocks noGrp="1"/>
          </p:cNvSpPr>
          <p:nvPr/>
        </p:nvSpPr>
        <p:spPr>
          <a:xfrm>
            <a:off x="3810000" y="2952750"/>
            <a:ext cx="2952750" cy="1741699"/>
          </a:xfrm>
          <a:prstGeom prst="roundRect">
            <a:avLst>
              <a:gd name="adj" fmla="val 5217"/>
            </a:avLst>
          </a:prstGeom>
          <a:solidFill>
            <a:srgbClr val="F4FFF9"/>
          </a:solidFill>
          <a:ln w="14288">
            <a:solidFill>
              <a:srgbClr val="20A67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/>
          </a:bodyPr>
          <a:lstStyle/>
          <a:p>
            <a:pPr algn="l">
              <a:defRPr sz="15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Sensitive files remain locked while officers search safe metadata, request restricted access, and get approvals through a controlled workflow.</a:t>
            </a:r>
          </a:p>
        </p:txBody>
      </p:sp>
      <p:sp>
        <p:nvSpPr>
          <p:cNvPr id="15371" name="Rounded Rectangle 15370">
            <a:extLst>
              <a:ext uri="{FF2B5EF4-FFF2-40B4-BE49-F238E27FC236}">
                <a16:creationId xmlns:a16="http://schemas.microsoft.com/office/drawing/2014/main" id="{8AE17CBB-E286-4852-BD5E-93319F80298A}"/>
              </a:ext>
            </a:extLst>
          </p:cNvPr>
          <p:cNvSpPr>
            <a:spLocks noGrp="1"/>
          </p:cNvSpPr>
          <p:nvPr/>
        </p:nvSpPr>
        <p:spPr>
          <a:xfrm>
            <a:off x="7016750" y="2952750"/>
            <a:ext cx="3143250" cy="1741699"/>
          </a:xfrm>
          <a:prstGeom prst="roundRect">
            <a:avLst>
              <a:gd name="adj" fmla="val 5217"/>
            </a:avLst>
          </a:prstGeom>
          <a:solidFill>
            <a:srgbClr val="FFF8E6"/>
          </a:solidFill>
          <a:ln w="14288">
            <a:solidFill>
              <a:srgbClr val="F2A9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/>
          </a:bodyPr>
          <a:lstStyle/>
          <a:p>
            <a:pPr algn="l">
              <a:defRPr sz="15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The prototype combines permission-filtered search, encrypted originals, approval requests, and tamper-evident logs in one case-file workflow.</a:t>
            </a:r>
          </a:p>
        </p:txBody>
      </p:sp>
    </p:spTree>
    <p:extLst>
      <p:ext uri="{BB962C8B-B14F-4D97-AF65-F5344CB8AC3E}">
        <p14:creationId xmlns:p14="http://schemas.microsoft.com/office/powerpoint/2010/main" val="2083273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7185120D-15C0-4ECD-AF8E-0BEC51430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250" y="0"/>
            <a:ext cx="8048625" cy="1066800"/>
          </a:xfrm>
        </p:spPr>
        <p:txBody>
          <a:bodyPr>
            <a:normAutofit/>
          </a:bodyPr>
          <a:lstStyle/>
          <a:p>
            <a:pPr algn="l">
              <a:buNone/>
              <a:defRPr sz="3000" b="1">
                <a:solidFill>
                  <a:srgbClr val="082A5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2A52"/>
                </a:solidFill>
                <a:latin typeface="Arial"/>
                <a:ea typeface="Arial"/>
                <a:cs typeface="Arial"/>
              </a:rPr>
              <a:t>TECHNICAL APPROACH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E1DE9-3772-4F35-9D5B-74F5BBFF5E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BEFFC69-1E8A-4317-A4C6-FCC68097E6D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>
              <a:buNone/>
              <a:defRPr sz="1350" b="1">
                <a:solidFill>
                  <a:srgbClr val="0B3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3A73"/>
                </a:solidFill>
                <a:latin typeface="Arial"/>
                <a:ea typeface="Arial"/>
                <a:cs typeface="Arial"/>
              </a:rPr>
              <a:t>Byte</a:t>
            </a:r>
            <a:endParaRPr/>
          </a:p>
          <a:p>
            <a:pPr algn="ctr">
              <a:buNone/>
              <a:defRPr sz="1350" b="1">
                <a:solidFill>
                  <a:srgbClr val="0B3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3A73"/>
                </a:solidFill>
                <a:latin typeface="Arial"/>
                <a:ea typeface="Arial"/>
                <a:cs typeface="Arial"/>
              </a:rPr>
              <a:t>Builders</a:t>
            </a:r>
            <a:endParaRPr/>
          </a:p>
        </p:txBody>
      </p:sp>
      <p:pic>
        <p:nvPicPr>
          <p:cNvPr id="17434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Rectangle 17411">
            <a:extLst>
              <a:ext uri="{FF2B5EF4-FFF2-40B4-BE49-F238E27FC236}">
                <a16:creationId xmlns:a16="http://schemas.microsoft.com/office/drawing/2014/main" id="{D6D5D025-566B-471B-A747-4AC7ED7791A4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3905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000" lnSpcReduction="10000"/>
          </a:bodyPr>
          <a:lstStyle/>
          <a:p>
            <a:pPr algn="l">
              <a:defRPr sz="1875" b="1">
                <a:solidFill>
                  <a:srgbClr val="0B3A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3A73"/>
                </a:solidFill>
                <a:latin typeface="Arial"/>
                <a:ea typeface="Arial"/>
                <a:cs typeface="Arial"/>
              </a:rPr>
              <a:t>Prototype stack</a:t>
            </a:r>
          </a:p>
        </p:txBody>
      </p:sp>
      <p:sp>
        <p:nvSpPr>
          <p:cNvPr id="17413" name="Rectangle 17412">
            <a:extLst>
              <a:ext uri="{FF2B5EF4-FFF2-40B4-BE49-F238E27FC236}">
                <a16:creationId xmlns:a16="http://schemas.microsoft.com/office/drawing/2014/main" id="{7E7F0EC2-C795-4677-B639-863DB84AF639}"/>
              </a:ext>
            </a:extLst>
          </p:cNvPr>
          <p:cNvSpPr>
            <a:spLocks noGrp="1"/>
          </p:cNvSpPr>
          <p:nvPr/>
        </p:nvSpPr>
        <p:spPr>
          <a:xfrm>
            <a:off x="838200" y="1619250"/>
            <a:ext cx="3714750" cy="2381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Web-based login</a:t>
            </a:r>
          </a:p>
          <a:p>
            <a:pPr algn="l"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Frontend dashboard</a:t>
            </a:r>
          </a:p>
          <a:p>
            <a:pPr algn="l"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Backend access checks</a:t>
            </a:r>
          </a:p>
          <a:p>
            <a:pPr algn="l"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Encrypted document storage</a:t>
            </a:r>
          </a:p>
          <a:p>
            <a:pPr algn="l"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Metadata search</a:t>
            </a:r>
          </a:p>
          <a:p>
            <a:pPr algn="l"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Hash-chained audit log</a:t>
            </a:r>
          </a:p>
        </p:txBody>
      </p:sp>
      <p:sp>
        <p:nvSpPr>
          <p:cNvPr id="17414" name="Rectangle 17413">
            <a:extLst>
              <a:ext uri="{FF2B5EF4-FFF2-40B4-BE49-F238E27FC236}">
                <a16:creationId xmlns:a16="http://schemas.microsoft.com/office/drawing/2014/main" id="{55F018F0-C758-4A0E-B077-1B7AD52A11AC}"/>
              </a:ext>
            </a:extLst>
          </p:cNvPr>
          <p:cNvSpPr>
            <a:spLocks noGrp="1"/>
          </p:cNvSpPr>
          <p:nvPr/>
        </p:nvSpPr>
        <p:spPr>
          <a:xfrm>
            <a:off x="4762500" y="1181100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000" lnSpcReduction="10000"/>
          </a:bodyPr>
          <a:lstStyle/>
          <a:p>
            <a:pPr algn="l">
              <a:defRPr sz="1875" b="1">
                <a:solidFill>
                  <a:srgbClr val="0B3A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3A73"/>
                </a:solidFill>
                <a:latin typeface="Arial"/>
                <a:ea typeface="Arial"/>
                <a:cs typeface="Arial"/>
              </a:rPr>
              <a:t>Core workflow</a:t>
            </a:r>
          </a:p>
        </p:txBody>
      </p:sp>
      <p:sp>
        <p:nvSpPr>
          <p:cNvPr id="17415" name="Rounded Rectangle 17414">
            <a:extLst>
              <a:ext uri="{FF2B5EF4-FFF2-40B4-BE49-F238E27FC236}">
                <a16:creationId xmlns:a16="http://schemas.microsoft.com/office/drawing/2014/main" id="{6BF548FE-C1F1-44A4-94AC-58E7A399226F}"/>
              </a:ext>
            </a:extLst>
          </p:cNvPr>
          <p:cNvSpPr>
            <a:spLocks noGrp="1"/>
          </p:cNvSpPr>
          <p:nvPr/>
        </p:nvSpPr>
        <p:spPr>
          <a:xfrm>
            <a:off x="4762500" y="1714500"/>
            <a:ext cx="1285875" cy="647700"/>
          </a:xfrm>
          <a:prstGeom prst="roundRect">
            <a:avLst>
              <a:gd name="adj" fmla="val 17647"/>
            </a:avLst>
          </a:prstGeom>
          <a:solidFill>
            <a:srgbClr val="EAF5FF"/>
          </a:solidFill>
          <a:ln w="14288">
            <a:solidFill>
              <a:srgbClr val="00AE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/>
          </a:bodyPr>
          <a:lstStyle/>
          <a:p>
            <a:pPr algn="ctr"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Login</a:t>
            </a:r>
          </a:p>
          <a:p>
            <a:pPr algn="ctr"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role + case</a:t>
            </a:r>
          </a:p>
        </p:txBody>
      </p:sp>
      <p:sp>
        <p:nvSpPr>
          <p:cNvPr id="17416" name="Rounded Rectangle 17415">
            <a:extLst>
              <a:ext uri="{FF2B5EF4-FFF2-40B4-BE49-F238E27FC236}">
                <a16:creationId xmlns:a16="http://schemas.microsoft.com/office/drawing/2014/main" id="{D9AE3F8F-89BD-4567-913F-6A48ADB7F2B0}"/>
              </a:ext>
            </a:extLst>
          </p:cNvPr>
          <p:cNvSpPr>
            <a:spLocks noGrp="1"/>
          </p:cNvSpPr>
          <p:nvPr/>
        </p:nvSpPr>
        <p:spPr>
          <a:xfrm>
            <a:off x="6572250" y="1714500"/>
            <a:ext cx="1285875" cy="647700"/>
          </a:xfrm>
          <a:prstGeom prst="roundRect">
            <a:avLst>
              <a:gd name="adj" fmla="val 17647"/>
            </a:avLst>
          </a:prstGeom>
          <a:solidFill>
            <a:srgbClr val="EAF5FF"/>
          </a:solidFill>
          <a:ln w="14288">
            <a:solidFill>
              <a:srgbClr val="00AE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/>
          </a:bodyPr>
          <a:lstStyle/>
          <a:p>
            <a:pPr algn="ctr"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Upload</a:t>
            </a:r>
          </a:p>
          <a:p>
            <a:pPr algn="ctr"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FIR / report</a:t>
            </a:r>
          </a:p>
        </p:txBody>
      </p:sp>
      <p:sp>
        <p:nvSpPr>
          <p:cNvPr id="17417" name="Rounded Rectangle 17416">
            <a:extLst>
              <a:ext uri="{FF2B5EF4-FFF2-40B4-BE49-F238E27FC236}">
                <a16:creationId xmlns:a16="http://schemas.microsoft.com/office/drawing/2014/main" id="{5377100D-6028-4AE7-B62C-372BF5D0B539}"/>
              </a:ext>
            </a:extLst>
          </p:cNvPr>
          <p:cNvSpPr>
            <a:spLocks noGrp="1"/>
          </p:cNvSpPr>
          <p:nvPr/>
        </p:nvSpPr>
        <p:spPr>
          <a:xfrm>
            <a:off x="8382000" y="1714500"/>
            <a:ext cx="1285875" cy="647700"/>
          </a:xfrm>
          <a:prstGeom prst="roundRect">
            <a:avLst>
              <a:gd name="adj" fmla="val 17647"/>
            </a:avLst>
          </a:prstGeom>
          <a:solidFill>
            <a:srgbClr val="EAF5FF"/>
          </a:solidFill>
          <a:ln w="14288">
            <a:solidFill>
              <a:srgbClr val="00AE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/>
          </a:bodyPr>
          <a:lstStyle/>
          <a:p>
            <a:pPr algn="ctr"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Extract</a:t>
            </a:r>
          </a:p>
          <a:p>
            <a:pPr algn="ctr"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metadata</a:t>
            </a:r>
          </a:p>
        </p:txBody>
      </p:sp>
      <p:sp>
        <p:nvSpPr>
          <p:cNvPr id="17418" name="Rounded Rectangle 17417">
            <a:extLst>
              <a:ext uri="{FF2B5EF4-FFF2-40B4-BE49-F238E27FC236}">
                <a16:creationId xmlns:a16="http://schemas.microsoft.com/office/drawing/2014/main" id="{38BF53C9-8ADB-4CA8-8D46-D2C1ECE4B394}"/>
              </a:ext>
            </a:extLst>
          </p:cNvPr>
          <p:cNvSpPr>
            <a:spLocks noGrp="1"/>
          </p:cNvSpPr>
          <p:nvPr/>
        </p:nvSpPr>
        <p:spPr>
          <a:xfrm>
            <a:off x="4762500" y="2952750"/>
            <a:ext cx="1285875" cy="647700"/>
          </a:xfrm>
          <a:prstGeom prst="roundRect">
            <a:avLst>
              <a:gd name="adj" fmla="val 17647"/>
            </a:avLst>
          </a:prstGeom>
          <a:solidFill>
            <a:srgbClr val="F4FFF9"/>
          </a:solidFill>
          <a:ln w="14288">
            <a:solidFill>
              <a:srgbClr val="20A67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/>
          </a:bodyPr>
          <a:lstStyle/>
          <a:p>
            <a:pPr algn="ctr"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Encrypt</a:t>
            </a:r>
          </a:p>
          <a:p>
            <a:pPr algn="ctr"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original</a:t>
            </a:r>
          </a:p>
        </p:txBody>
      </p:sp>
      <p:sp>
        <p:nvSpPr>
          <p:cNvPr id="17419" name="Rounded Rectangle 17418">
            <a:extLst>
              <a:ext uri="{FF2B5EF4-FFF2-40B4-BE49-F238E27FC236}">
                <a16:creationId xmlns:a16="http://schemas.microsoft.com/office/drawing/2014/main" id="{DAFE3D86-8FA6-44B6-A857-4542F2D88AC1}"/>
              </a:ext>
            </a:extLst>
          </p:cNvPr>
          <p:cNvSpPr>
            <a:spLocks noGrp="1"/>
          </p:cNvSpPr>
          <p:nvPr/>
        </p:nvSpPr>
        <p:spPr>
          <a:xfrm>
            <a:off x="6572250" y="2952750"/>
            <a:ext cx="1285875" cy="647700"/>
          </a:xfrm>
          <a:prstGeom prst="roundRect">
            <a:avLst>
              <a:gd name="adj" fmla="val 17647"/>
            </a:avLst>
          </a:prstGeom>
          <a:solidFill>
            <a:srgbClr val="F4FFF9"/>
          </a:solidFill>
          <a:ln w="14288">
            <a:solidFill>
              <a:srgbClr val="20A67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/>
          </a:bodyPr>
          <a:lstStyle/>
          <a:p>
            <a:pPr algn="ctr"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Search</a:t>
            </a:r>
          </a:p>
          <a:p>
            <a:pPr algn="ctr"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safe index</a:t>
            </a:r>
          </a:p>
        </p:txBody>
      </p:sp>
      <p:sp>
        <p:nvSpPr>
          <p:cNvPr id="17420" name="Rounded Rectangle 17419">
            <a:extLst>
              <a:ext uri="{FF2B5EF4-FFF2-40B4-BE49-F238E27FC236}">
                <a16:creationId xmlns:a16="http://schemas.microsoft.com/office/drawing/2014/main" id="{890FC7F3-EE01-4D7E-BDFA-814111172B46}"/>
              </a:ext>
            </a:extLst>
          </p:cNvPr>
          <p:cNvSpPr>
            <a:spLocks noGrp="1"/>
          </p:cNvSpPr>
          <p:nvPr/>
        </p:nvSpPr>
        <p:spPr>
          <a:xfrm>
            <a:off x="8382000" y="2952750"/>
            <a:ext cx="1285875" cy="647700"/>
          </a:xfrm>
          <a:prstGeom prst="roundRect">
            <a:avLst>
              <a:gd name="adj" fmla="val 17647"/>
            </a:avLst>
          </a:prstGeom>
          <a:solidFill>
            <a:srgbClr val="F4FFF9"/>
          </a:solidFill>
          <a:ln w="14288">
            <a:solidFill>
              <a:srgbClr val="20A67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 fontScale="94534"/>
          </a:bodyPr>
          <a:lstStyle/>
          <a:p>
            <a:pPr algn="ctr"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View or</a:t>
            </a:r>
          </a:p>
          <a:p>
            <a:pPr algn="ctr"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request access</a:t>
            </a:r>
          </a:p>
        </p:txBody>
      </p:sp>
      <p:cxnSp>
        <p:nvCxnSpPr>
          <p:cNvPr id="17444" name="Straight Arrow Connector 17443"/>
          <p:cNvCxnSpPr>
            <a:stCxn id="17415" idx="3"/>
            <a:endCxn id="17416" idx="1"/>
          </p:cNvCxnSpPr>
          <p:nvPr/>
        </p:nvCxnSpPr>
        <p:spPr>
          <a:xfrm>
            <a:off x="6048375" y="2038350"/>
            <a:ext cx="523875" cy="0"/>
          </a:xfrm>
          <a:prstGeom prst="straightConnector1">
            <a:avLst/>
          </a:prstGeom>
          <a:ln w="19050">
            <a:solidFill>
              <a:srgbClr val="0B3A73"/>
            </a:solidFill>
            <a:prstDash val="solid"/>
            <a:tailEnd type="triangle" w="sm" len="sm"/>
          </a:ln>
        </p:spPr>
      </p:cxnSp>
      <p:cxnSp>
        <p:nvCxnSpPr>
          <p:cNvPr id="17445" name="Straight Arrow Connector 17444"/>
          <p:cNvCxnSpPr>
            <a:stCxn id="17416" idx="3"/>
            <a:endCxn id="17417" idx="1"/>
          </p:cNvCxnSpPr>
          <p:nvPr/>
        </p:nvCxnSpPr>
        <p:spPr>
          <a:xfrm>
            <a:off x="7858125" y="2038350"/>
            <a:ext cx="523875" cy="0"/>
          </a:xfrm>
          <a:prstGeom prst="straightConnector1">
            <a:avLst/>
          </a:prstGeom>
          <a:ln w="19050">
            <a:solidFill>
              <a:srgbClr val="0B3A73"/>
            </a:solidFill>
            <a:prstDash val="solid"/>
            <a:tailEnd type="triangle" w="sm" len="sm"/>
          </a:ln>
        </p:spPr>
      </p:cxnSp>
      <p:cxnSp>
        <p:nvCxnSpPr>
          <p:cNvPr id="17446" name="Elbow Connector 17445"/>
          <p:cNvCxnSpPr>
            <a:stCxn id="17417" idx="2"/>
            <a:endCxn id="17418" idx="0"/>
          </p:cNvCxnSpPr>
          <p:nvPr/>
        </p:nvCxnSpPr>
        <p:spPr>
          <a:xfrm flipH="1">
            <a:off x="5405438" y="2362200"/>
            <a:ext cx="3619500" cy="5905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B3A73"/>
            </a:solidFill>
            <a:prstDash val="solid"/>
            <a:tailEnd type="triangle" w="sm" len="sm"/>
          </a:ln>
        </p:spPr>
      </p:cxnSp>
      <p:cxnSp>
        <p:nvCxnSpPr>
          <p:cNvPr id="17447" name="Straight Arrow Connector 17446"/>
          <p:cNvCxnSpPr>
            <a:stCxn id="17418" idx="3"/>
            <a:endCxn id="17419" idx="1"/>
          </p:cNvCxnSpPr>
          <p:nvPr/>
        </p:nvCxnSpPr>
        <p:spPr>
          <a:xfrm>
            <a:off x="6048375" y="3276600"/>
            <a:ext cx="523875" cy="0"/>
          </a:xfrm>
          <a:prstGeom prst="straightConnector1">
            <a:avLst/>
          </a:prstGeom>
          <a:ln w="19050">
            <a:solidFill>
              <a:srgbClr val="0B3A73"/>
            </a:solidFill>
            <a:prstDash val="solid"/>
            <a:tailEnd type="triangle" w="sm" len="sm"/>
          </a:ln>
        </p:spPr>
      </p:cxnSp>
      <p:cxnSp>
        <p:nvCxnSpPr>
          <p:cNvPr id="17448" name="Straight Arrow Connector 17447"/>
          <p:cNvCxnSpPr>
            <a:stCxn id="17419" idx="3"/>
            <a:endCxn id="17420" idx="1"/>
          </p:cNvCxnSpPr>
          <p:nvPr/>
        </p:nvCxnSpPr>
        <p:spPr>
          <a:xfrm>
            <a:off x="7858125" y="3276600"/>
            <a:ext cx="523875" cy="0"/>
          </a:xfrm>
          <a:prstGeom prst="straightConnector1">
            <a:avLst/>
          </a:prstGeom>
          <a:ln w="19050">
            <a:solidFill>
              <a:srgbClr val="0B3A73"/>
            </a:solidFill>
            <a:prstDash val="solid"/>
            <a:tailEnd type="triangle" w="sm" len="sm"/>
          </a:ln>
        </p:spPr>
      </p:cxnSp>
      <p:sp>
        <p:nvSpPr>
          <p:cNvPr id="17426" name="Rounded Rectangle 17425">
            <a:extLst>
              <a:ext uri="{FF2B5EF4-FFF2-40B4-BE49-F238E27FC236}">
                <a16:creationId xmlns:a16="http://schemas.microsoft.com/office/drawing/2014/main" id="{49D0E59C-2C82-4363-861C-A61366584776}"/>
              </a:ext>
            </a:extLst>
          </p:cNvPr>
          <p:cNvSpPr>
            <a:spLocks noGrp="1"/>
          </p:cNvSpPr>
          <p:nvPr/>
        </p:nvSpPr>
        <p:spPr>
          <a:xfrm>
            <a:off x="833437" y="3524250"/>
            <a:ext cx="1381125" cy="952500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9050">
            <a:solidFill>
              <a:srgbClr val="00AEEF"/>
            </a:solidFill>
            <a:prstDash val="dash"/>
          </a:ln>
        </p:spPr>
        <p:txBody>
          <a:bodyPr>
            <a:normAutofit fontScale="97850"/>
          </a:bodyPr>
          <a:lstStyle/>
          <a:p>
            <a:pPr algn="ctr">
              <a:defRPr sz="1350" b="1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Prototype image</a:t>
            </a:r>
          </a:p>
          <a:p>
            <a:pPr algn="ctr">
              <a:defRPr sz="1350" b="1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Screenshot placeholder</a:t>
            </a:r>
          </a:p>
        </p:txBody>
      </p:sp>
      <p:sp>
        <p:nvSpPr>
          <p:cNvPr id="17427" name="Rounded Rectangle 17426">
            <a:extLst>
              <a:ext uri="{FF2B5EF4-FFF2-40B4-BE49-F238E27FC236}">
                <a16:creationId xmlns:a16="http://schemas.microsoft.com/office/drawing/2014/main" id="{73766A98-4B49-400A-A5E0-18C43DB22718}"/>
              </a:ext>
            </a:extLst>
          </p:cNvPr>
          <p:cNvSpPr>
            <a:spLocks noGrp="1"/>
          </p:cNvSpPr>
          <p:nvPr/>
        </p:nvSpPr>
        <p:spPr>
          <a:xfrm>
            <a:off x="6738937" y="4678362"/>
            <a:ext cx="1381125" cy="876300"/>
          </a:xfrm>
          <a:prstGeom prst="roundRect">
            <a:avLst>
              <a:gd name="adj" fmla="val 13043"/>
            </a:avLst>
          </a:prstGeom>
          <a:solidFill>
            <a:srgbClr val="FFF8E6"/>
          </a:solidFill>
          <a:ln w="14288">
            <a:solidFill>
              <a:srgbClr val="F2A9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 fontScale="98139" lnSpcReduction="10000"/>
          </a:bodyPr>
          <a:lstStyle/>
          <a:p>
            <a:pPr algn="ctr"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GitHub / demo link</a:t>
            </a:r>
          </a:p>
          <a:p>
            <a:pPr algn="ctr"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To be added after v0</a:t>
            </a:r>
          </a:p>
        </p:txBody>
      </p:sp>
      <p:sp>
        <p:nvSpPr>
          <p:cNvPr id="17428" name="Rectangle 17427">
            <a:extLst>
              <a:ext uri="{FF2B5EF4-FFF2-40B4-BE49-F238E27FC236}">
                <a16:creationId xmlns:a16="http://schemas.microsoft.com/office/drawing/2014/main" id="{21641592-CC9C-442C-85D3-4C37C50ABECC}"/>
              </a:ext>
            </a:extLst>
          </p:cNvPr>
          <p:cNvSpPr>
            <a:spLocks noGrp="1"/>
          </p:cNvSpPr>
          <p:nvPr/>
        </p:nvSpPr>
        <p:spPr>
          <a:xfrm>
            <a:off x="4762500" y="4095750"/>
            <a:ext cx="5905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929" lnSpcReduction="10000"/>
          </a:bodyPr>
          <a:lstStyle/>
          <a:p>
            <a:pPr algn="l">
              <a:defRPr sz="1425" b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Every upload, search, access attempt, approval, and view is written to the audit trail.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17EF552-10D6-3721-438A-4DDA533ACD06}"/>
              </a:ext>
            </a:extLst>
          </p:cNvPr>
          <p:cNvSpPr>
            <a:spLocks noGrp="1"/>
          </p:cNvSpPr>
          <p:nvPr/>
        </p:nvSpPr>
        <p:spPr>
          <a:xfrm>
            <a:off x="2500312" y="3535362"/>
            <a:ext cx="1381125" cy="952500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9050">
            <a:solidFill>
              <a:srgbClr val="00AEEF"/>
            </a:solidFill>
            <a:prstDash val="dash"/>
          </a:ln>
        </p:spPr>
        <p:txBody>
          <a:bodyPr>
            <a:normAutofit fontScale="97850"/>
          </a:bodyPr>
          <a:lstStyle/>
          <a:p>
            <a:pPr algn="ctr">
              <a:defRPr sz="1350" b="1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Prototype image</a:t>
            </a:r>
          </a:p>
          <a:p>
            <a:pPr algn="ctr">
              <a:defRPr sz="1350" b="1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Screenshot placeholder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8D2FED0-6CD2-BB45-4453-0CFD855C8DDD}"/>
              </a:ext>
            </a:extLst>
          </p:cNvPr>
          <p:cNvSpPr>
            <a:spLocks noGrp="1"/>
          </p:cNvSpPr>
          <p:nvPr/>
        </p:nvSpPr>
        <p:spPr>
          <a:xfrm>
            <a:off x="833436" y="4800600"/>
            <a:ext cx="1381125" cy="952500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9050">
            <a:solidFill>
              <a:srgbClr val="00AEEF"/>
            </a:solidFill>
            <a:prstDash val="dash"/>
          </a:ln>
        </p:spPr>
        <p:txBody>
          <a:bodyPr>
            <a:normAutofit fontScale="97850"/>
          </a:bodyPr>
          <a:lstStyle/>
          <a:p>
            <a:pPr algn="ctr">
              <a:defRPr sz="1350" b="1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Prototype image</a:t>
            </a:r>
          </a:p>
          <a:p>
            <a:pPr algn="ctr">
              <a:defRPr sz="1350" b="1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Screenshot placeholder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9ACC630-E58F-7631-06C9-70211FB87AF2}"/>
              </a:ext>
            </a:extLst>
          </p:cNvPr>
          <p:cNvSpPr>
            <a:spLocks noGrp="1"/>
          </p:cNvSpPr>
          <p:nvPr/>
        </p:nvSpPr>
        <p:spPr>
          <a:xfrm>
            <a:off x="2500312" y="4787106"/>
            <a:ext cx="1381125" cy="952500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9050">
            <a:solidFill>
              <a:srgbClr val="00AEEF"/>
            </a:solidFill>
            <a:prstDash val="dash"/>
          </a:ln>
        </p:spPr>
        <p:txBody>
          <a:bodyPr>
            <a:normAutofit fontScale="97850"/>
          </a:bodyPr>
          <a:lstStyle/>
          <a:p>
            <a:pPr algn="ctr">
              <a:defRPr sz="1350" b="1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Prototype image</a:t>
            </a:r>
          </a:p>
          <a:p>
            <a:pPr algn="ctr">
              <a:defRPr sz="1350" b="1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Screenshot placeholder</a:t>
            </a:r>
          </a:p>
        </p:txBody>
      </p:sp>
    </p:spTree>
    <p:extLst>
      <p:ext uri="{BB962C8B-B14F-4D97-AF65-F5344CB8AC3E}">
        <p14:creationId xmlns:p14="http://schemas.microsoft.com/office/powerpoint/2010/main" val="1653654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F890F5AF-95C8-417D-8570-3D33908B3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250" y="0"/>
            <a:ext cx="8048625" cy="1066800"/>
          </a:xfrm>
        </p:spPr>
        <p:txBody>
          <a:bodyPr>
            <a:normAutofit/>
          </a:bodyPr>
          <a:lstStyle/>
          <a:p>
            <a:pPr algn="l">
              <a:buNone/>
              <a:defRPr sz="3000" b="1">
                <a:solidFill>
                  <a:srgbClr val="082A5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2A52"/>
                </a:solidFill>
                <a:latin typeface="Arial"/>
                <a:ea typeface="Arial"/>
                <a:cs typeface="Arial"/>
              </a:rPr>
              <a:t>FEASIBILITY AND VIABILITY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DF64C-4C1C-40C1-AB28-943A87D52B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3191E49-EDB1-43ED-B412-9C3FCB24C5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>
              <a:buNone/>
              <a:defRPr sz="1350" b="1">
                <a:solidFill>
                  <a:srgbClr val="0B3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3A73"/>
                </a:solidFill>
                <a:latin typeface="Arial"/>
                <a:ea typeface="Arial"/>
                <a:cs typeface="Arial"/>
              </a:rPr>
              <a:t>Byte</a:t>
            </a:r>
            <a:endParaRPr/>
          </a:p>
          <a:p>
            <a:pPr algn="ctr">
              <a:buNone/>
              <a:defRPr sz="1350" b="1">
                <a:solidFill>
                  <a:srgbClr val="0B3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3A73"/>
                </a:solidFill>
                <a:latin typeface="Arial"/>
                <a:ea typeface="Arial"/>
                <a:cs typeface="Arial"/>
              </a:rPr>
              <a:t>Builders</a:t>
            </a:r>
            <a:endParaRPr/>
          </a:p>
        </p:txBody>
      </p:sp>
      <p:pic>
        <p:nvPicPr>
          <p:cNvPr id="17426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Rectangle 17411">
            <a:extLst>
              <a:ext uri="{FF2B5EF4-FFF2-40B4-BE49-F238E27FC236}">
                <a16:creationId xmlns:a16="http://schemas.microsoft.com/office/drawing/2014/main" id="{31430A73-F84A-447B-9112-09E5DAB92DB1}"/>
              </a:ext>
            </a:extLst>
          </p:cNvPr>
          <p:cNvSpPr>
            <a:spLocks noGrp="1"/>
          </p:cNvSpPr>
          <p:nvPr/>
        </p:nvSpPr>
        <p:spPr>
          <a:xfrm>
            <a:off x="857250" y="1181100"/>
            <a:ext cx="6477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976" lnSpcReduction="10000"/>
          </a:bodyPr>
          <a:lstStyle/>
          <a:p>
            <a:pPr algn="l">
              <a:defRPr sz="2100" b="1">
                <a:solidFill>
                  <a:srgbClr val="0B3A7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3A73"/>
                </a:solidFill>
                <a:latin typeface="Arial"/>
                <a:ea typeface="Arial"/>
                <a:cs typeface="Arial"/>
              </a:rPr>
              <a:t>Build focus for the internal round</a:t>
            </a:r>
          </a:p>
        </p:txBody>
      </p:sp>
      <p:sp>
        <p:nvSpPr>
          <p:cNvPr id="17413" name="Rounded Rectangle 17412">
            <a:extLst>
              <a:ext uri="{FF2B5EF4-FFF2-40B4-BE49-F238E27FC236}">
                <a16:creationId xmlns:a16="http://schemas.microsoft.com/office/drawing/2014/main" id="{6A079770-656C-44B7-BF1A-A4F19D573A62}"/>
              </a:ext>
            </a:extLst>
          </p:cNvPr>
          <p:cNvSpPr>
            <a:spLocks noGrp="1"/>
          </p:cNvSpPr>
          <p:nvPr/>
        </p:nvSpPr>
        <p:spPr>
          <a:xfrm>
            <a:off x="857250" y="1885950"/>
            <a:ext cx="2095500" cy="1047750"/>
          </a:xfrm>
          <a:prstGeom prst="roundRect">
            <a:avLst>
              <a:gd name="adj" fmla="val 10909"/>
            </a:avLst>
          </a:prstGeom>
          <a:solidFill>
            <a:srgbClr val="EAF5FF"/>
          </a:solidFill>
          <a:ln w="14288">
            <a:solidFill>
              <a:srgbClr val="00AE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/>
          </a:bodyPr>
          <a:lstStyle/>
          <a:p>
            <a:pPr algn="ctr">
              <a:defRPr sz="15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Day 1</a:t>
            </a:r>
            <a:endParaRPr lang="en-IN" sz="1500" b="1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 algn="ctr">
              <a:defRPr sz="15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en-IN" sz="170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Login, roles, cases</a:t>
            </a:r>
          </a:p>
        </p:txBody>
      </p:sp>
      <p:sp>
        <p:nvSpPr>
          <p:cNvPr id="17414" name="Rounded Rectangle 17413">
            <a:extLst>
              <a:ext uri="{FF2B5EF4-FFF2-40B4-BE49-F238E27FC236}">
                <a16:creationId xmlns:a16="http://schemas.microsoft.com/office/drawing/2014/main" id="{C9D9F61A-E793-4A53-A37E-6CEAF063F8A4}"/>
              </a:ext>
            </a:extLst>
          </p:cNvPr>
          <p:cNvSpPr>
            <a:spLocks noGrp="1"/>
          </p:cNvSpPr>
          <p:nvPr/>
        </p:nvSpPr>
        <p:spPr>
          <a:xfrm>
            <a:off x="3476625" y="1885950"/>
            <a:ext cx="2095500" cy="1047750"/>
          </a:xfrm>
          <a:prstGeom prst="roundRect">
            <a:avLst>
              <a:gd name="adj" fmla="val 10909"/>
            </a:avLst>
          </a:prstGeom>
          <a:solidFill>
            <a:srgbClr val="EAF5FF"/>
          </a:solidFill>
          <a:ln w="14288">
            <a:solidFill>
              <a:srgbClr val="00AE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/>
          </a:bodyPr>
          <a:lstStyle/>
          <a:p>
            <a:pPr algn="ctr">
              <a:defRPr sz="15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Day 2</a:t>
            </a:r>
          </a:p>
          <a:p>
            <a:pPr algn="ctr">
              <a:defRPr sz="15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Upload, metadata, search</a:t>
            </a:r>
          </a:p>
        </p:txBody>
      </p:sp>
      <p:sp>
        <p:nvSpPr>
          <p:cNvPr id="17415" name="Rounded Rectangle 17414">
            <a:extLst>
              <a:ext uri="{FF2B5EF4-FFF2-40B4-BE49-F238E27FC236}">
                <a16:creationId xmlns:a16="http://schemas.microsoft.com/office/drawing/2014/main" id="{A1948074-4836-47E6-8ED0-C693BFC37580}"/>
              </a:ext>
            </a:extLst>
          </p:cNvPr>
          <p:cNvSpPr>
            <a:spLocks noGrp="1"/>
          </p:cNvSpPr>
          <p:nvPr/>
        </p:nvSpPr>
        <p:spPr>
          <a:xfrm>
            <a:off x="6096000" y="1885950"/>
            <a:ext cx="2095500" cy="1047750"/>
          </a:xfrm>
          <a:prstGeom prst="roundRect">
            <a:avLst>
              <a:gd name="adj" fmla="val 10909"/>
            </a:avLst>
          </a:prstGeom>
          <a:solidFill>
            <a:srgbClr val="F4FFF9"/>
          </a:solidFill>
          <a:ln w="14288">
            <a:solidFill>
              <a:srgbClr val="20A67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/>
          </a:bodyPr>
          <a:lstStyle/>
          <a:p>
            <a:pPr algn="ctr">
              <a:defRPr sz="15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Day 3</a:t>
            </a:r>
          </a:p>
          <a:p>
            <a:pPr algn="ctr">
              <a:defRPr sz="15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Access request, approval, audit</a:t>
            </a:r>
          </a:p>
        </p:txBody>
      </p:sp>
      <p:sp>
        <p:nvSpPr>
          <p:cNvPr id="17416" name="Rounded Rectangle 17415">
            <a:extLst>
              <a:ext uri="{FF2B5EF4-FFF2-40B4-BE49-F238E27FC236}">
                <a16:creationId xmlns:a16="http://schemas.microsoft.com/office/drawing/2014/main" id="{21A3FB62-2BDF-40A1-B1B2-EEDFA21F747E}"/>
              </a:ext>
            </a:extLst>
          </p:cNvPr>
          <p:cNvSpPr>
            <a:spLocks noGrp="1"/>
          </p:cNvSpPr>
          <p:nvPr/>
        </p:nvSpPr>
        <p:spPr>
          <a:xfrm>
            <a:off x="8715375" y="1885950"/>
            <a:ext cx="2095500" cy="1047750"/>
          </a:xfrm>
          <a:prstGeom prst="roundRect">
            <a:avLst>
              <a:gd name="adj" fmla="val 10909"/>
            </a:avLst>
          </a:prstGeom>
          <a:solidFill>
            <a:srgbClr val="F4FFF9"/>
          </a:solidFill>
          <a:ln w="14288">
            <a:solidFill>
              <a:srgbClr val="20A67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/>
          </a:bodyPr>
          <a:lstStyle/>
          <a:p>
            <a:pPr algn="ctr">
              <a:defRPr sz="15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Day 4</a:t>
            </a:r>
          </a:p>
          <a:p>
            <a:pPr algn="ctr">
              <a:defRPr sz="15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Demo polish, screenshots, pitch</a:t>
            </a:r>
          </a:p>
        </p:txBody>
      </p:sp>
      <p:sp>
        <p:nvSpPr>
          <p:cNvPr id="17417" name="Rounded Rectangle 17416">
            <a:extLst>
              <a:ext uri="{FF2B5EF4-FFF2-40B4-BE49-F238E27FC236}">
                <a16:creationId xmlns:a16="http://schemas.microsoft.com/office/drawing/2014/main" id="{535BA9AA-9514-402C-A367-B9F53010D897}"/>
              </a:ext>
            </a:extLst>
          </p:cNvPr>
          <p:cNvSpPr>
            <a:spLocks noGrp="1"/>
          </p:cNvSpPr>
          <p:nvPr/>
        </p:nvSpPr>
        <p:spPr>
          <a:xfrm>
            <a:off x="1381124" y="3562350"/>
            <a:ext cx="3686175" cy="396877"/>
          </a:xfrm>
          <a:prstGeom prst="roundRect">
            <a:avLst>
              <a:gd name="adj" fmla="val 21053"/>
            </a:avLst>
          </a:prstGeom>
          <a:solidFill>
            <a:srgbClr val="0B3A73"/>
          </a:solidFill>
          <a:ln w="14288">
            <a:solidFill>
              <a:srgbClr val="0B3A73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 risks and potential challenges</a:t>
            </a:r>
          </a:p>
        </p:txBody>
      </p:sp>
      <p:sp>
        <p:nvSpPr>
          <p:cNvPr id="17418" name="Rounded Rectangle 17417">
            <a:extLst>
              <a:ext uri="{FF2B5EF4-FFF2-40B4-BE49-F238E27FC236}">
                <a16:creationId xmlns:a16="http://schemas.microsoft.com/office/drawing/2014/main" id="{8854AA2D-8514-4C3D-A6BA-C293A64DD600}"/>
              </a:ext>
            </a:extLst>
          </p:cNvPr>
          <p:cNvSpPr>
            <a:spLocks noGrp="1"/>
          </p:cNvSpPr>
          <p:nvPr/>
        </p:nvSpPr>
        <p:spPr>
          <a:xfrm>
            <a:off x="6477000" y="3541713"/>
            <a:ext cx="1714500" cy="361950"/>
          </a:xfrm>
          <a:prstGeom prst="roundRect">
            <a:avLst>
              <a:gd name="adj" fmla="val 21053"/>
            </a:avLst>
          </a:prstGeom>
          <a:solidFill>
            <a:srgbClr val="0B3A73"/>
          </a:solidFill>
          <a:ln w="14288">
            <a:solidFill>
              <a:srgbClr val="0B3A73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17419" name="Rectangle 17418">
            <a:extLst>
              <a:ext uri="{FF2B5EF4-FFF2-40B4-BE49-F238E27FC236}">
                <a16:creationId xmlns:a16="http://schemas.microsoft.com/office/drawing/2014/main" id="{61FC08F7-AB07-4852-9B43-758482E641DB}"/>
              </a:ext>
            </a:extLst>
          </p:cNvPr>
          <p:cNvSpPr>
            <a:spLocks noGrp="1"/>
          </p:cNvSpPr>
          <p:nvPr/>
        </p:nvSpPr>
        <p:spPr>
          <a:xfrm>
            <a:off x="1066800" y="4095750"/>
            <a:ext cx="400050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7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OCR accuracy</a:t>
            </a:r>
          </a:p>
          <a:p>
            <a:pPr algn="l">
              <a:defRPr sz="17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Sensitive data exposure</a:t>
            </a:r>
          </a:p>
          <a:p>
            <a:pPr algn="l">
              <a:defRPr sz="17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Unauthorized original-file access</a:t>
            </a:r>
          </a:p>
        </p:txBody>
      </p:sp>
      <p:sp>
        <p:nvSpPr>
          <p:cNvPr id="17420" name="Rectangle 17419">
            <a:extLst>
              <a:ext uri="{FF2B5EF4-FFF2-40B4-BE49-F238E27FC236}">
                <a16:creationId xmlns:a16="http://schemas.microsoft.com/office/drawing/2014/main" id="{7DDA2873-4CD1-431F-9B36-90BE0033F2AE}"/>
              </a:ext>
            </a:extLst>
          </p:cNvPr>
          <p:cNvSpPr>
            <a:spLocks noGrp="1"/>
          </p:cNvSpPr>
          <p:nvPr/>
        </p:nvSpPr>
        <p:spPr>
          <a:xfrm>
            <a:off x="6238875" y="4095750"/>
            <a:ext cx="447675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7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Allow manual metadata entry for v0</a:t>
            </a:r>
          </a:p>
          <a:p>
            <a:pPr algn="l">
              <a:defRPr sz="17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Show only permission-filtered search results</a:t>
            </a:r>
          </a:p>
          <a:p>
            <a:pPr algn="l">
              <a:defRPr sz="17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Centralize backend access checks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0EA4BF11-7132-4CA2-87F6-6FEB45301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250" y="0"/>
            <a:ext cx="8048625" cy="1066800"/>
          </a:xfrm>
        </p:spPr>
        <p:txBody>
          <a:bodyPr>
            <a:normAutofit/>
          </a:bodyPr>
          <a:lstStyle/>
          <a:p>
            <a:pPr algn="l">
              <a:buNone/>
              <a:defRPr sz="3000" b="1">
                <a:solidFill>
                  <a:srgbClr val="082A52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082A52"/>
                </a:solidFill>
                <a:latin typeface="Arial"/>
                <a:ea typeface="Arial"/>
                <a:cs typeface="Arial"/>
              </a:rPr>
              <a:t>IMPACT AND BENEFITS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D750D-936F-49BF-86DE-41E73C95D1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005FD-22FC-453E-9202-BE1E1F5CAFB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>
              <a:buNone/>
              <a:defRPr sz="1350" b="1">
                <a:solidFill>
                  <a:srgbClr val="0B3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3A73"/>
                </a:solidFill>
                <a:latin typeface="Arial"/>
                <a:ea typeface="Arial"/>
                <a:cs typeface="Arial"/>
              </a:rPr>
              <a:t>Byte</a:t>
            </a:r>
            <a:endParaRPr/>
          </a:p>
          <a:p>
            <a:pPr algn="ctr">
              <a:buNone/>
              <a:defRPr sz="1350" b="1">
                <a:solidFill>
                  <a:srgbClr val="0B3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3A73"/>
                </a:solidFill>
                <a:latin typeface="Arial"/>
                <a:ea typeface="Arial"/>
                <a:cs typeface="Arial"/>
              </a:rPr>
              <a:t>Builders</a:t>
            </a:r>
            <a:endParaRPr/>
          </a:p>
        </p:txBody>
      </p:sp>
      <p:pic>
        <p:nvPicPr>
          <p:cNvPr id="17422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Rectangle 17411">
            <a:extLst>
              <a:ext uri="{FF2B5EF4-FFF2-40B4-BE49-F238E27FC236}">
                <a16:creationId xmlns:a16="http://schemas.microsoft.com/office/drawing/2014/main" id="{DF2E2DF4-069D-4EE7-B991-2E5DAB0166B9}"/>
              </a:ext>
            </a:extLst>
          </p:cNvPr>
          <p:cNvSpPr>
            <a:spLocks noGrp="1"/>
          </p:cNvSpPr>
          <p:nvPr/>
        </p:nvSpPr>
        <p:spPr>
          <a:xfrm>
            <a:off x="857250" y="1190625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500" lnSpcReduction="10000"/>
          </a:bodyPr>
          <a:lstStyle/>
          <a:p>
            <a:pPr algn="l">
              <a:defRPr sz="2250" b="1">
                <a:solidFill>
                  <a:srgbClr val="0B3A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3A73"/>
                </a:solidFill>
                <a:latin typeface="Arial"/>
                <a:ea typeface="Arial"/>
                <a:cs typeface="Arial"/>
              </a:rPr>
              <a:t>Real-world impact and benefits</a:t>
            </a:r>
          </a:p>
        </p:txBody>
      </p:sp>
      <p:sp>
        <p:nvSpPr>
          <p:cNvPr id="17413" name="Rounded Rectangle 17412">
            <a:extLst>
              <a:ext uri="{FF2B5EF4-FFF2-40B4-BE49-F238E27FC236}">
                <a16:creationId xmlns:a16="http://schemas.microsoft.com/office/drawing/2014/main" id="{470C735B-1DFE-4F34-A9CB-C75196A06D0A}"/>
              </a:ext>
            </a:extLst>
          </p:cNvPr>
          <p:cNvSpPr>
            <a:spLocks noGrp="1"/>
          </p:cNvSpPr>
          <p:nvPr/>
        </p:nvSpPr>
        <p:spPr>
          <a:xfrm>
            <a:off x="857250" y="1857375"/>
            <a:ext cx="4238625" cy="1524000"/>
          </a:xfrm>
          <a:prstGeom prst="roundRect">
            <a:avLst>
              <a:gd name="adj" fmla="val 8276"/>
            </a:avLst>
          </a:prstGeom>
          <a:solidFill>
            <a:srgbClr val="EAF5FF"/>
          </a:solidFill>
          <a:ln w="14288">
            <a:solidFill>
              <a:srgbClr val="00AE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pPr algn="l">
              <a:defRPr sz="15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Faster retrieval</a:t>
            </a:r>
          </a:p>
          <a:p>
            <a:pPr algn="l">
              <a:defRPr sz="15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Officers find relevant case files without searching physical records.</a:t>
            </a:r>
          </a:p>
        </p:txBody>
      </p:sp>
      <p:sp>
        <p:nvSpPr>
          <p:cNvPr id="17414" name="Rounded Rectangle 17413">
            <a:extLst>
              <a:ext uri="{FF2B5EF4-FFF2-40B4-BE49-F238E27FC236}">
                <a16:creationId xmlns:a16="http://schemas.microsoft.com/office/drawing/2014/main" id="{FEB1EAFC-84F8-4AB3-AA5B-77C968309DC6}"/>
              </a:ext>
            </a:extLst>
          </p:cNvPr>
          <p:cNvSpPr>
            <a:spLocks noGrp="1"/>
          </p:cNvSpPr>
          <p:nvPr/>
        </p:nvSpPr>
        <p:spPr>
          <a:xfrm>
            <a:off x="6096000" y="1857375"/>
            <a:ext cx="4238625" cy="1521037"/>
          </a:xfrm>
          <a:prstGeom prst="roundRect">
            <a:avLst>
              <a:gd name="adj" fmla="val 8276"/>
            </a:avLst>
          </a:prstGeom>
          <a:solidFill>
            <a:srgbClr val="F4FFF9"/>
          </a:solidFill>
          <a:ln w="14288">
            <a:solidFill>
              <a:srgbClr val="20A67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pPr algn="l">
              <a:defRPr sz="15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Stronger confidentiality</a:t>
            </a:r>
          </a:p>
          <a:p>
            <a:pPr algn="l">
              <a:defRPr sz="15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Sensitive originals open only after role, case, and clearance checks.</a:t>
            </a:r>
          </a:p>
        </p:txBody>
      </p:sp>
      <p:sp>
        <p:nvSpPr>
          <p:cNvPr id="17415" name="Rounded Rectangle 17414">
            <a:extLst>
              <a:ext uri="{FF2B5EF4-FFF2-40B4-BE49-F238E27FC236}">
                <a16:creationId xmlns:a16="http://schemas.microsoft.com/office/drawing/2014/main" id="{AD088CB8-455B-43BB-989C-B705FB14841C}"/>
              </a:ext>
            </a:extLst>
          </p:cNvPr>
          <p:cNvSpPr>
            <a:spLocks noGrp="1"/>
          </p:cNvSpPr>
          <p:nvPr/>
        </p:nvSpPr>
        <p:spPr>
          <a:xfrm>
            <a:off x="857250" y="3905250"/>
            <a:ext cx="4238625" cy="1521037"/>
          </a:xfrm>
          <a:prstGeom prst="roundRect">
            <a:avLst>
              <a:gd name="adj" fmla="val 8276"/>
            </a:avLst>
          </a:prstGeom>
          <a:solidFill>
            <a:srgbClr val="EAF5FF"/>
          </a:solidFill>
          <a:ln w="14288">
            <a:solidFill>
              <a:srgbClr val="00AE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pPr algn="l">
              <a:defRPr sz="15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Better accountability</a:t>
            </a:r>
          </a:p>
          <a:p>
            <a:pPr algn="l">
              <a:defRPr sz="15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Audit logs show who uploaded, searched, requested, approved, or viewed a file.</a:t>
            </a:r>
          </a:p>
        </p:txBody>
      </p:sp>
      <p:sp>
        <p:nvSpPr>
          <p:cNvPr id="17416" name="Rounded Rectangle 17415">
            <a:extLst>
              <a:ext uri="{FF2B5EF4-FFF2-40B4-BE49-F238E27FC236}">
                <a16:creationId xmlns:a16="http://schemas.microsoft.com/office/drawing/2014/main" id="{85FB73A0-4DCE-4BAC-BDB4-017610A85F05}"/>
              </a:ext>
            </a:extLst>
          </p:cNvPr>
          <p:cNvSpPr>
            <a:spLocks noGrp="1"/>
          </p:cNvSpPr>
          <p:nvPr/>
        </p:nvSpPr>
        <p:spPr>
          <a:xfrm>
            <a:off x="6096000" y="3905250"/>
            <a:ext cx="4238625" cy="1521037"/>
          </a:xfrm>
          <a:prstGeom prst="roundRect">
            <a:avLst>
              <a:gd name="adj" fmla="val 8276"/>
            </a:avLst>
          </a:prstGeom>
          <a:solidFill>
            <a:srgbClr val="F4FFF9"/>
          </a:solidFill>
          <a:ln w="14288">
            <a:solidFill>
              <a:srgbClr val="20A67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pPr algn="l">
              <a:defRPr sz="15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Court-ready integrity</a:t>
            </a:r>
          </a:p>
          <a:p>
            <a:pPr algn="l">
              <a:defRPr sz="15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Hash-chain logs and signatures support tamper detection and evidence trust.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9A36CDFD-29EE-4557-8439-3E8E3E8CB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250" y="0"/>
            <a:ext cx="8048625" cy="1066800"/>
          </a:xfrm>
        </p:spPr>
        <p:txBody>
          <a:bodyPr>
            <a:normAutofit/>
          </a:bodyPr>
          <a:lstStyle/>
          <a:p>
            <a:pPr algn="l">
              <a:buNone/>
              <a:defRPr sz="3000" b="1">
                <a:solidFill>
                  <a:srgbClr val="082A5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2A52"/>
                </a:solidFill>
                <a:latin typeface="Arial"/>
                <a:ea typeface="Arial"/>
                <a:cs typeface="Arial"/>
              </a:rPr>
              <a:t>RESEARCH AND 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928C-27F7-4D26-B393-82545732CC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2E9325-89A2-412B-B8A3-12EAF0A033B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>
              <a:buNone/>
              <a:defRPr sz="1350" b="1">
                <a:solidFill>
                  <a:srgbClr val="0B3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3A73"/>
                </a:solidFill>
                <a:latin typeface="Arial"/>
                <a:ea typeface="Arial"/>
                <a:cs typeface="Arial"/>
              </a:rPr>
              <a:t>Byte</a:t>
            </a:r>
            <a:endParaRPr/>
          </a:p>
          <a:p>
            <a:pPr algn="ctr">
              <a:buNone/>
              <a:defRPr sz="1350" b="1">
                <a:solidFill>
                  <a:srgbClr val="0B3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3A73"/>
                </a:solidFill>
                <a:latin typeface="Arial"/>
                <a:ea typeface="Arial"/>
                <a:cs typeface="Arial"/>
              </a:rPr>
              <a:t>Builders</a:t>
            </a:r>
            <a:endParaRPr/>
          </a:p>
        </p:txBody>
      </p:sp>
      <p:pic>
        <p:nvPicPr>
          <p:cNvPr id="17425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Rectangle 17411">
            <a:extLst>
              <a:ext uri="{FF2B5EF4-FFF2-40B4-BE49-F238E27FC236}">
                <a16:creationId xmlns:a16="http://schemas.microsoft.com/office/drawing/2014/main" id="{25E4ED1F-8CE8-4975-9341-439A4A932D16}"/>
              </a:ext>
            </a:extLst>
          </p:cNvPr>
          <p:cNvSpPr>
            <a:spLocks noGrp="1"/>
          </p:cNvSpPr>
          <p:nvPr/>
        </p:nvSpPr>
        <p:spPr>
          <a:xfrm>
            <a:off x="819150" y="1200150"/>
            <a:ext cx="4095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981" lnSpcReduction="10000"/>
          </a:bodyPr>
          <a:lstStyle/>
          <a:p>
            <a:pPr algn="l">
              <a:defRPr sz="2025" b="1">
                <a:solidFill>
                  <a:srgbClr val="0B3A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3A73"/>
                </a:solidFill>
                <a:latin typeface="Arial"/>
                <a:ea typeface="Arial"/>
                <a:cs typeface="Arial"/>
              </a:rPr>
              <a:t>Reference base</a:t>
            </a:r>
          </a:p>
        </p:txBody>
      </p:sp>
      <p:sp>
        <p:nvSpPr>
          <p:cNvPr id="17413" name="Rectangle 17412">
            <a:extLst>
              <a:ext uri="{FF2B5EF4-FFF2-40B4-BE49-F238E27FC236}">
                <a16:creationId xmlns:a16="http://schemas.microsoft.com/office/drawing/2014/main" id="{D865BDBB-98A2-4B74-944E-741770F302DE}"/>
              </a:ext>
            </a:extLst>
          </p:cNvPr>
          <p:cNvSpPr>
            <a:spLocks noGrp="1"/>
          </p:cNvSpPr>
          <p:nvPr/>
        </p:nvSpPr>
        <p:spPr>
          <a:xfrm>
            <a:off x="819150" y="1666875"/>
            <a:ext cx="4476750" cy="334486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SIH PS 26190 brief</a:t>
            </a:r>
          </a:p>
          <a:p>
            <a:pPr algn="l"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Information Technology Act, 2000</a:t>
            </a:r>
          </a:p>
          <a:p>
            <a:pPr algn="l"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Bharatiya </a:t>
            </a:r>
            <a:r>
              <a:rPr sz="240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Sakshya</a:t>
            </a:r>
            <a:r>
              <a:rPr sz="24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Adhiniyam</a:t>
            </a:r>
            <a:r>
              <a:rPr sz="24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, 2023</a:t>
            </a:r>
          </a:p>
          <a:p>
            <a:pPr algn="l"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NCRB / investigation document workflow context</a:t>
            </a:r>
          </a:p>
          <a:p>
            <a:pPr algn="l"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Team prototype screenshots to be inserted after v0</a:t>
            </a:r>
          </a:p>
        </p:txBody>
      </p:sp>
      <p:sp>
        <p:nvSpPr>
          <p:cNvPr id="17414" name="Rectangle 17413">
            <a:extLst>
              <a:ext uri="{FF2B5EF4-FFF2-40B4-BE49-F238E27FC236}">
                <a16:creationId xmlns:a16="http://schemas.microsoft.com/office/drawing/2014/main" id="{E0DE318D-24AA-4DD1-A5CD-C5A1505F90EB}"/>
              </a:ext>
            </a:extLst>
          </p:cNvPr>
          <p:cNvSpPr>
            <a:spLocks noGrp="1"/>
          </p:cNvSpPr>
          <p:nvPr/>
        </p:nvSpPr>
        <p:spPr>
          <a:xfrm>
            <a:off x="5905500" y="1200150"/>
            <a:ext cx="4286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981" lnSpcReduction="10000"/>
          </a:bodyPr>
          <a:lstStyle/>
          <a:p>
            <a:pPr algn="l">
              <a:defRPr sz="2025" b="1">
                <a:solidFill>
                  <a:srgbClr val="0B3A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3A73"/>
                </a:solidFill>
                <a:latin typeface="Arial"/>
                <a:ea typeface="Arial"/>
                <a:cs typeface="Arial"/>
              </a:rPr>
              <a:t>Prototype screenshots</a:t>
            </a:r>
          </a:p>
        </p:txBody>
      </p:sp>
      <p:sp>
        <p:nvSpPr>
          <p:cNvPr id="17415" name="Rounded Rectangle 17414">
            <a:extLst>
              <a:ext uri="{FF2B5EF4-FFF2-40B4-BE49-F238E27FC236}">
                <a16:creationId xmlns:a16="http://schemas.microsoft.com/office/drawing/2014/main" id="{47B6D4A4-EF58-4089-B18A-04DB917FC64C}"/>
              </a:ext>
            </a:extLst>
          </p:cNvPr>
          <p:cNvSpPr>
            <a:spLocks noGrp="1"/>
          </p:cNvSpPr>
          <p:nvPr/>
        </p:nvSpPr>
        <p:spPr>
          <a:xfrm>
            <a:off x="5905500" y="1695450"/>
            <a:ext cx="2238375" cy="119062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9050">
            <a:solidFill>
              <a:srgbClr val="00AEEF"/>
            </a:solidFill>
            <a:prstDash val="dash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6472"/>
                </a:solidFill>
                <a:latin typeface="Arial"/>
                <a:ea typeface="Arial"/>
                <a:cs typeface="Arial"/>
              </a:rPr>
              <a:t>Login</a:t>
            </a:r>
          </a:p>
          <a:p>
            <a:pPr algn="ctr">
              <a:defRPr sz="1350" b="1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6472"/>
                </a:solidFill>
                <a:latin typeface="Arial"/>
                <a:ea typeface="Arial"/>
                <a:cs typeface="Arial"/>
              </a:rPr>
              <a:t>Screenshot placeholder</a:t>
            </a:r>
          </a:p>
        </p:txBody>
      </p:sp>
      <p:sp>
        <p:nvSpPr>
          <p:cNvPr id="17416" name="Rounded Rectangle 17415">
            <a:extLst>
              <a:ext uri="{FF2B5EF4-FFF2-40B4-BE49-F238E27FC236}">
                <a16:creationId xmlns:a16="http://schemas.microsoft.com/office/drawing/2014/main" id="{EDDEA3E8-0152-4898-978C-15A938A19FDD}"/>
              </a:ext>
            </a:extLst>
          </p:cNvPr>
          <p:cNvSpPr>
            <a:spLocks noGrp="1"/>
          </p:cNvSpPr>
          <p:nvPr/>
        </p:nvSpPr>
        <p:spPr>
          <a:xfrm>
            <a:off x="8429625" y="1695450"/>
            <a:ext cx="2238375" cy="119062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9050">
            <a:solidFill>
              <a:srgbClr val="00AEEF"/>
            </a:solidFill>
            <a:prstDash val="dash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6472"/>
                </a:solidFill>
                <a:latin typeface="Arial"/>
                <a:ea typeface="Arial"/>
                <a:cs typeface="Arial"/>
              </a:rPr>
              <a:t>Case dashboard</a:t>
            </a:r>
          </a:p>
          <a:p>
            <a:pPr algn="ctr">
              <a:defRPr sz="1350" b="1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6472"/>
                </a:solidFill>
                <a:latin typeface="Arial"/>
                <a:ea typeface="Arial"/>
                <a:cs typeface="Arial"/>
              </a:rPr>
              <a:t>Screenshot placeholder</a:t>
            </a:r>
          </a:p>
        </p:txBody>
      </p:sp>
      <p:sp>
        <p:nvSpPr>
          <p:cNvPr id="17417" name="Rounded Rectangle 17416">
            <a:extLst>
              <a:ext uri="{FF2B5EF4-FFF2-40B4-BE49-F238E27FC236}">
                <a16:creationId xmlns:a16="http://schemas.microsoft.com/office/drawing/2014/main" id="{C88A3B46-E010-4B89-BBC2-E526BDB19405}"/>
              </a:ext>
            </a:extLst>
          </p:cNvPr>
          <p:cNvSpPr>
            <a:spLocks noGrp="1"/>
          </p:cNvSpPr>
          <p:nvPr/>
        </p:nvSpPr>
        <p:spPr>
          <a:xfrm>
            <a:off x="5905500" y="3190875"/>
            <a:ext cx="2238375" cy="119062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9050">
            <a:solidFill>
              <a:srgbClr val="00AEEF"/>
            </a:solidFill>
            <a:prstDash val="dash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6472"/>
                </a:solidFill>
                <a:latin typeface="Arial"/>
                <a:ea typeface="Arial"/>
                <a:cs typeface="Arial"/>
              </a:rPr>
              <a:t>Upload + metadata</a:t>
            </a:r>
          </a:p>
          <a:p>
            <a:pPr algn="ctr">
              <a:defRPr sz="1350" b="1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6472"/>
                </a:solidFill>
                <a:latin typeface="Arial"/>
                <a:ea typeface="Arial"/>
                <a:cs typeface="Arial"/>
              </a:rPr>
              <a:t>Screenshot placeholder</a:t>
            </a:r>
          </a:p>
        </p:txBody>
      </p:sp>
      <p:sp>
        <p:nvSpPr>
          <p:cNvPr id="17418" name="Rounded Rectangle 17417">
            <a:extLst>
              <a:ext uri="{FF2B5EF4-FFF2-40B4-BE49-F238E27FC236}">
                <a16:creationId xmlns:a16="http://schemas.microsoft.com/office/drawing/2014/main" id="{DE7887DE-88A8-4524-9C0F-0C7911694FFD}"/>
              </a:ext>
            </a:extLst>
          </p:cNvPr>
          <p:cNvSpPr>
            <a:spLocks noGrp="1"/>
          </p:cNvSpPr>
          <p:nvPr/>
        </p:nvSpPr>
        <p:spPr>
          <a:xfrm>
            <a:off x="8429625" y="3190875"/>
            <a:ext cx="2238375" cy="119062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9050">
            <a:solidFill>
              <a:srgbClr val="00AEEF"/>
            </a:solidFill>
            <a:prstDash val="dash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6472"/>
                </a:solidFill>
                <a:latin typeface="Arial"/>
                <a:ea typeface="Arial"/>
                <a:cs typeface="Arial"/>
              </a:rPr>
              <a:t>Audit trail</a:t>
            </a:r>
          </a:p>
          <a:p>
            <a:pPr algn="ctr">
              <a:defRPr sz="1350" b="1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6472"/>
                </a:solidFill>
                <a:latin typeface="Arial"/>
                <a:ea typeface="Arial"/>
                <a:cs typeface="Arial"/>
              </a:rPr>
              <a:t>Screenshot placeholder</a:t>
            </a:r>
          </a:p>
        </p:txBody>
      </p:sp>
      <p:sp>
        <p:nvSpPr>
          <p:cNvPr id="17419" name="Rectangle 17418">
            <a:extLst>
              <a:ext uri="{FF2B5EF4-FFF2-40B4-BE49-F238E27FC236}">
                <a16:creationId xmlns:a16="http://schemas.microsoft.com/office/drawing/2014/main" id="{D2F3F9EC-F01C-4C8A-A8DE-CAD6DF7FB439}"/>
              </a:ext>
            </a:extLst>
          </p:cNvPr>
          <p:cNvSpPr>
            <a:spLocks noGrp="1"/>
          </p:cNvSpPr>
          <p:nvPr/>
        </p:nvSpPr>
        <p:spPr>
          <a:xfrm>
            <a:off x="5905500" y="4762500"/>
            <a:ext cx="481012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630" lnSpcReduction="10000"/>
          </a:bodyPr>
          <a:lstStyle/>
          <a:p>
            <a:pPr algn="l">
              <a:defRPr sz="1350" b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2"/>
                </a:solidFill>
                <a:latin typeface="Arial"/>
                <a:ea typeface="Arial"/>
                <a:cs typeface="Arial"/>
              </a:rPr>
              <a:t>Final PDF upload: replace placeholders with prototype screenshots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</Words>
  <Application>Microsoft Macintosh PowerPoint</Application>
  <DocSecurity>0</DocSecurity>
  <PresentationFormat>Widescreen</PresentationFormat>
  <Paragraphs>121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IDEA TITLE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Abhinav P M</cp:lastModifiedBy>
  <cp:revision>1</cp:revision>
  <dcterms:created xsi:type="dcterms:W3CDTF">2026-09-12T18:17:39Z</dcterms:created>
  <dcterms:modified xsi:type="dcterms:W3CDTF">2026-09-12T18:29:36Z</dcterms:modified>
</cp:coreProperties>
</file>